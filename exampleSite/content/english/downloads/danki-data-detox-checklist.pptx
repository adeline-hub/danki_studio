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0E8"/>
    <a:srgbClr val="C4A574"/>
    <a:srgbClr val="FCFB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733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65E693-79E4-45CE-B1A3-E62AB054E8D2}" type="datetimeFigureOut">
              <a:rPr lang="it-IT" smtClean="0"/>
              <a:t>07/02/2026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197428-DA21-4B41-8758-A0556C1540A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27987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6188" y="1143000"/>
            <a:ext cx="4365625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97428-DA21-4B41-8758-A0556C1540A6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0857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39B89-F460-4550-8DB8-92FB47E10073}" type="datetimeFigureOut">
              <a:rPr lang="it-IT" smtClean="0"/>
              <a:t>07/02/2026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A6DF8-7DD1-4E70-B365-0B8A1CB91DC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7574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39B89-F460-4550-8DB8-92FB47E10073}" type="datetimeFigureOut">
              <a:rPr lang="it-IT" smtClean="0"/>
              <a:t>07/02/2026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A6DF8-7DD1-4E70-B365-0B8A1CB91DC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6555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39B89-F460-4550-8DB8-92FB47E10073}" type="datetimeFigureOut">
              <a:rPr lang="it-IT" smtClean="0"/>
              <a:t>07/02/2026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A6DF8-7DD1-4E70-B365-0B8A1CB91DC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6225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39B89-F460-4550-8DB8-92FB47E10073}" type="datetimeFigureOut">
              <a:rPr lang="it-IT" smtClean="0"/>
              <a:t>07/02/2026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A6DF8-7DD1-4E70-B365-0B8A1CB91DC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0172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39B89-F460-4550-8DB8-92FB47E10073}" type="datetimeFigureOut">
              <a:rPr lang="it-IT" smtClean="0"/>
              <a:t>07/02/2026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A6DF8-7DD1-4E70-B365-0B8A1CB91DC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7968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39B89-F460-4550-8DB8-92FB47E10073}" type="datetimeFigureOut">
              <a:rPr lang="it-IT" smtClean="0"/>
              <a:t>07/02/2026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A6DF8-7DD1-4E70-B365-0B8A1CB91DC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8402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39B89-F460-4550-8DB8-92FB47E10073}" type="datetimeFigureOut">
              <a:rPr lang="it-IT" smtClean="0"/>
              <a:t>07/02/2026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A6DF8-7DD1-4E70-B365-0B8A1CB91DC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4633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39B89-F460-4550-8DB8-92FB47E10073}" type="datetimeFigureOut">
              <a:rPr lang="it-IT" smtClean="0"/>
              <a:t>07/02/2026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A6DF8-7DD1-4E70-B365-0B8A1CB91DC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146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39B89-F460-4550-8DB8-92FB47E10073}" type="datetimeFigureOut">
              <a:rPr lang="it-IT" smtClean="0"/>
              <a:t>07/02/2026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A6DF8-7DD1-4E70-B365-0B8A1CB91DC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1383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39B89-F460-4550-8DB8-92FB47E10073}" type="datetimeFigureOut">
              <a:rPr lang="it-IT" smtClean="0"/>
              <a:t>07/02/2026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A6DF8-7DD1-4E70-B365-0B8A1CB91DC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198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39B89-F460-4550-8DB8-92FB47E10073}" type="datetimeFigureOut">
              <a:rPr lang="it-IT" smtClean="0"/>
              <a:t>07/02/2026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A6DF8-7DD1-4E70-B365-0B8A1CB91DC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0138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439B89-F460-4550-8DB8-92FB47E10073}" type="datetimeFigureOut">
              <a:rPr lang="it-IT" smtClean="0"/>
              <a:t>07/02/2026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3A6DF8-7DD1-4E70-B365-0B8A1CB91DC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1950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mailto:hello@dankistudio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430A24-593E-939C-39EB-BFB553DA4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39200"/>
            <a:ext cx="10691813" cy="771298"/>
          </a:xfrm>
          <a:solidFill>
            <a:srgbClr val="F5F0E8"/>
          </a:solidFill>
        </p:spPr>
        <p:txBody>
          <a:bodyPr>
            <a:normAutofit/>
          </a:bodyPr>
          <a:lstStyle/>
          <a:p>
            <a:r>
              <a:rPr lang="en-US" sz="3508" dirty="0"/>
              <a:t>DATA DETOX, the definitive checklist</a:t>
            </a:r>
            <a:endParaRPr lang="it-IT" sz="3508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F99EFBC-3124-CEFB-C563-B31C6ECAF9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9655298"/>
              </p:ext>
            </p:extLst>
          </p:nvPr>
        </p:nvGraphicFramePr>
        <p:xfrm>
          <a:off x="-1" y="829255"/>
          <a:ext cx="10691812" cy="58562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72953">
                  <a:extLst>
                    <a:ext uri="{9D8B030D-6E8A-4147-A177-3AD203B41FA5}">
                      <a16:colId xmlns:a16="http://schemas.microsoft.com/office/drawing/2014/main" val="623937771"/>
                    </a:ext>
                  </a:extLst>
                </a:gridCol>
                <a:gridCol w="2672953">
                  <a:extLst>
                    <a:ext uri="{9D8B030D-6E8A-4147-A177-3AD203B41FA5}">
                      <a16:colId xmlns:a16="http://schemas.microsoft.com/office/drawing/2014/main" val="2854044008"/>
                    </a:ext>
                  </a:extLst>
                </a:gridCol>
                <a:gridCol w="2672953">
                  <a:extLst>
                    <a:ext uri="{9D8B030D-6E8A-4147-A177-3AD203B41FA5}">
                      <a16:colId xmlns:a16="http://schemas.microsoft.com/office/drawing/2014/main" val="863389888"/>
                    </a:ext>
                  </a:extLst>
                </a:gridCol>
                <a:gridCol w="2672953">
                  <a:extLst>
                    <a:ext uri="{9D8B030D-6E8A-4147-A177-3AD203B41FA5}">
                      <a16:colId xmlns:a16="http://schemas.microsoft.com/office/drawing/2014/main" val="2387015568"/>
                    </a:ext>
                  </a:extLst>
                </a:gridCol>
              </a:tblGrid>
              <a:tr h="6430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rgbClr val="C4A57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AUDIT</a:t>
                      </a:r>
                      <a:r>
                        <a:rPr lang="en-US" sz="1600" b="1" kern="1200" dirty="0">
                          <a:solidFill>
                            <a:srgbClr val="00B050"/>
                          </a:solidFill>
                          <a:effectLst/>
                        </a:rPr>
                        <a:t> </a:t>
                      </a:r>
                    </a:p>
                  </a:txBody>
                  <a:tcPr marL="80189" marR="80189" marT="40094" marB="4009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rgbClr val="C4A574"/>
                          </a:solidFill>
                          <a:effectLst/>
                        </a:rPr>
                        <a:t>CLEAN</a:t>
                      </a:r>
                      <a:r>
                        <a:rPr lang="en-US" sz="1600" b="1" kern="1200" dirty="0">
                          <a:solidFill>
                            <a:srgbClr val="00B050"/>
                          </a:solidFill>
                          <a:effectLst/>
                        </a:rPr>
                        <a:t>              </a:t>
                      </a:r>
                    </a:p>
                  </a:txBody>
                  <a:tcPr marL="80189" marR="80189" marT="40094" marB="4009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rgbClr val="C4A57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ORGANIZE         </a:t>
                      </a:r>
                    </a:p>
                  </a:txBody>
                  <a:tcPr marL="80189" marR="80189" marT="40094" marB="4009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rgbClr val="C4A574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MAINTAIN      </a:t>
                      </a:r>
                    </a:p>
                  </a:txBody>
                  <a:tcPr marL="80189" marR="80189" marT="40094" marB="40094"/>
                </a:tc>
                <a:extLst>
                  <a:ext uri="{0D108BD9-81ED-4DB2-BD59-A6C34878D82A}">
                    <a16:rowId xmlns:a16="http://schemas.microsoft.com/office/drawing/2014/main" val="28134140"/>
                  </a:ext>
                </a:extLst>
              </a:tr>
              <a:tr h="1296577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Do you know where all your data lives?</a:t>
                      </a:r>
                    </a:p>
                    <a:p>
                      <a:pPr marL="742950" lvl="1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Yes</a:t>
                      </a:r>
                    </a:p>
                    <a:p>
                      <a:pPr marL="742950" lvl="1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No </a:t>
                      </a:r>
                      <a:endParaRPr lang="it-IT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80189" marR="80189" marT="40094" marB="40094"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Have you identified duplicate files?</a:t>
                      </a:r>
                    </a:p>
                    <a:p>
                      <a:pPr marL="742950" lvl="1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Yes</a:t>
                      </a:r>
                    </a:p>
                    <a:p>
                      <a:pPr marL="742950" lvl="1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No </a:t>
                      </a:r>
                      <a:endParaRPr lang="it-IT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80189" marR="80189" marT="40094" marB="40094"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Is there a clear naming convention?</a:t>
                      </a:r>
                    </a:p>
                    <a:p>
                      <a:pPr marL="742950" lvl="1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Yes</a:t>
                      </a:r>
                    </a:p>
                    <a:p>
                      <a:pPr marL="742950" lvl="1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No </a:t>
                      </a:r>
                      <a:endParaRPr lang="it-IT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80189" marR="80189" marT="40094" marB="40094"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Who is responsible for data hygiene?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………………. team/name</a:t>
                      </a:r>
                    </a:p>
                    <a:p>
                      <a:pPr marL="0" indent="0" algn="l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endParaRPr lang="en-US" sz="1200" b="0" i="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0189" marR="80189" marT="40094" marB="40094"/>
                </a:tc>
                <a:extLst>
                  <a:ext uri="{0D108BD9-81ED-4DB2-BD59-A6C34878D82A}">
                    <a16:rowId xmlns:a16="http://schemas.microsoft.com/office/drawing/2014/main" val="551299985"/>
                  </a:ext>
                </a:extLst>
              </a:tr>
              <a:tr h="1310038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When was your last data inventory?</a:t>
                      </a:r>
                    </a:p>
                    <a:p>
                      <a:pPr marL="457200" lvl="1" indent="0">
                        <a:buFont typeface="Wingdings" panose="05000000000000000000" pitchFamily="2" charset="2"/>
                        <a:buNone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………………. days</a:t>
                      </a:r>
                    </a:p>
                    <a:p>
                      <a:pPr marL="457200" lvl="1" indent="0">
                        <a:buFont typeface="Wingdings" panose="05000000000000000000" pitchFamily="2" charset="2"/>
                        <a:buNone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………………. years</a:t>
                      </a:r>
                      <a:endParaRPr lang="en-US" sz="1200" b="0" i="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0189" marR="80189" marT="40094" marB="40094"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Are old versions archived or deleted?</a:t>
                      </a:r>
                    </a:p>
                    <a:p>
                      <a:pPr marL="742950" lvl="1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Archived</a:t>
                      </a:r>
                    </a:p>
                    <a:p>
                      <a:pPr marL="742950" lvl="1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Deleted </a:t>
                      </a:r>
                      <a:endParaRPr lang="it-IT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80189" marR="80189" marT="40094" marB="40094"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Are folder structures logical?</a:t>
                      </a:r>
                    </a:p>
                    <a:p>
                      <a:pPr marL="742950" lvl="1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Yes</a:t>
                      </a:r>
                    </a:p>
                    <a:p>
                      <a:pPr marL="742950" lvl="1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No </a:t>
                      </a:r>
                      <a:endParaRPr lang="it-IT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  <a:p>
                      <a:pPr marL="0" indent="0" algn="l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endParaRPr lang="it-IT" sz="1200" b="0" i="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0189" marR="80189" marT="40094" marB="40094"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Is there a regular review schedule?</a:t>
                      </a:r>
                    </a:p>
                    <a:p>
                      <a:pPr marL="742950" lvl="1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Yes</a:t>
                      </a:r>
                    </a:p>
                    <a:p>
                      <a:pPr marL="742950" lvl="1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No </a:t>
                      </a:r>
                      <a:endParaRPr lang="it-IT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q"/>
                      </a:pPr>
                      <a:endParaRPr lang="it-IT" sz="1200" b="0" i="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0189" marR="80189" marT="40094" marB="40094"/>
                </a:tc>
                <a:extLst>
                  <a:ext uri="{0D108BD9-81ED-4DB2-BD59-A6C34878D82A}">
                    <a16:rowId xmlns:a16="http://schemas.microsoft.com/office/drawing/2014/main" val="2886015420"/>
                  </a:ext>
                </a:extLst>
              </a:tr>
              <a:tr h="1310038"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How many storage locations do you use?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………………. number</a:t>
                      </a:r>
                    </a:p>
                    <a:p>
                      <a:pPr marL="0" indent="0" algn="l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endParaRPr lang="it-IT" sz="1200" b="0" i="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0189" marR="80189" marT="40094" marB="40094"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Is unused data flagged for review?</a:t>
                      </a:r>
                    </a:p>
                    <a:p>
                      <a:pPr marL="742950" lvl="1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Yes</a:t>
                      </a:r>
                    </a:p>
                    <a:p>
                      <a:pPr marL="742950" lvl="1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No </a:t>
                      </a:r>
                      <a:endParaRPr lang="it-IT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80189" marR="80189" marT="40094" marB="40094"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Can new team members find what they need?</a:t>
                      </a:r>
                    </a:p>
                    <a:p>
                      <a:pPr marL="742950" lvl="1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Yes</a:t>
                      </a:r>
                    </a:p>
                    <a:p>
                      <a:pPr marL="742950" lvl="1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No </a:t>
                      </a:r>
                      <a:endParaRPr lang="it-IT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q"/>
                      </a:pPr>
                      <a:endParaRPr lang="it-IT" sz="1200" b="0" i="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0189" marR="80189" marT="40094" marB="40094"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Are backups automated?</a:t>
                      </a:r>
                    </a:p>
                    <a:p>
                      <a:pPr marL="742950" lvl="1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Yes</a:t>
                      </a:r>
                    </a:p>
                    <a:p>
                      <a:pPr marL="742950" lvl="1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No </a:t>
                      </a:r>
                      <a:endParaRPr lang="it-IT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q"/>
                      </a:pPr>
                      <a:endParaRPr lang="it-IT" sz="1200" b="0" i="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0189" marR="80189" marT="40094" marB="40094"/>
                </a:tc>
                <a:extLst>
                  <a:ext uri="{0D108BD9-81ED-4DB2-BD59-A6C34878D82A}">
                    <a16:rowId xmlns:a16="http://schemas.microsoft.com/office/drawing/2014/main" val="2990020768"/>
                  </a:ext>
                </a:extLst>
              </a:tr>
              <a:tr h="1296577"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What is your total data volume?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………………. number</a:t>
                      </a: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q"/>
                      </a:pPr>
                      <a:endParaRPr lang="it-IT" sz="1200" b="0" i="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0189" marR="80189" marT="40094" marB="40094"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Is sensitive data properly secured?</a:t>
                      </a:r>
                    </a:p>
                    <a:p>
                      <a:pPr marL="742950" lvl="1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Yes</a:t>
                      </a:r>
                    </a:p>
                    <a:p>
                      <a:pPr marL="742950" lvl="1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No </a:t>
                      </a:r>
                      <a:endParaRPr lang="it-IT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80189" marR="80189" marT="40094" marB="40094"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Is metadata documented?</a:t>
                      </a:r>
                    </a:p>
                    <a:p>
                      <a:pPr marL="742950" lvl="1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Yes</a:t>
                      </a:r>
                    </a:p>
                    <a:p>
                      <a:pPr marL="742950" lvl="1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No </a:t>
                      </a:r>
                      <a:endParaRPr lang="it-IT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q"/>
                      </a:pPr>
                      <a:endParaRPr lang="it-IT" sz="1200" b="0" i="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0189" marR="80189" marT="40094" marB="40094"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Is there a deletion policy?</a:t>
                      </a:r>
                    </a:p>
                    <a:p>
                      <a:pPr marL="742950" lvl="1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Yes</a:t>
                      </a:r>
                    </a:p>
                    <a:p>
                      <a:pPr marL="742950" lvl="1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2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No </a:t>
                      </a:r>
                      <a:endParaRPr lang="it-IT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q"/>
                      </a:pPr>
                      <a:endParaRPr lang="it-IT" sz="1200" b="0" i="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0189" marR="80189" marT="40094" marB="40094"/>
                </a:tc>
                <a:extLst>
                  <a:ext uri="{0D108BD9-81ED-4DB2-BD59-A6C34878D82A}">
                    <a16:rowId xmlns:a16="http://schemas.microsoft.com/office/drawing/2014/main" val="588624452"/>
                  </a:ext>
                </a:extLst>
              </a:tr>
            </a:tbl>
          </a:graphicData>
        </a:graphic>
      </p:graphicFrame>
      <p:sp>
        <p:nvSpPr>
          <p:cNvPr id="6" name="Title 3">
            <a:extLst>
              <a:ext uri="{FF2B5EF4-FFF2-40B4-BE49-F238E27FC236}">
                <a16:creationId xmlns:a16="http://schemas.microsoft.com/office/drawing/2014/main" id="{2E17FC6C-78DE-4F40-BD65-C0A8EBDEE19C}"/>
              </a:ext>
            </a:extLst>
          </p:cNvPr>
          <p:cNvSpPr txBox="1">
            <a:spLocks/>
          </p:cNvSpPr>
          <p:nvPr/>
        </p:nvSpPr>
        <p:spPr>
          <a:xfrm>
            <a:off x="0" y="6737951"/>
            <a:ext cx="10691813" cy="801280"/>
          </a:xfrm>
          <a:prstGeom prst="rect">
            <a:avLst/>
          </a:prstGeom>
          <a:solidFill>
            <a:srgbClr val="F5F0E8"/>
          </a:solidFill>
        </p:spPr>
        <p:txBody>
          <a:bodyPr vert="horz" lIns="80189" tIns="40094" rIns="80189" bIns="40094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it-IT" sz="1929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AFBB0C-003A-6C56-D509-90DAD8B2A5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599" y="6781252"/>
            <a:ext cx="1019063" cy="88541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D7E9FC4-FBB0-9B79-23FF-FF705D95383B}"/>
              </a:ext>
            </a:extLst>
          </p:cNvPr>
          <p:cNvSpPr txBox="1"/>
          <p:nvPr/>
        </p:nvSpPr>
        <p:spPr>
          <a:xfrm>
            <a:off x="3244760" y="7085857"/>
            <a:ext cx="4202287" cy="524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3" b="1" dirty="0"/>
              <a:t>Paris | Genova | London</a:t>
            </a:r>
          </a:p>
          <a:p>
            <a:r>
              <a:rPr lang="it-IT" sz="1403" b="1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hello@dankistudio.com</a:t>
            </a:r>
            <a:r>
              <a:rPr lang="it-IT" sz="1403" b="1" dirty="0"/>
              <a:t> | </a:t>
            </a:r>
            <a:r>
              <a:rPr lang="it-IT" sz="1403" b="1" dirty="0">
                <a:solidFill>
                  <a:srgbClr val="00B050"/>
                </a:solidFill>
              </a:rPr>
              <a:t>www.dankistudio.com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2A77CA-D585-5447-ED7D-35D898E6CBC3}"/>
              </a:ext>
            </a:extLst>
          </p:cNvPr>
          <p:cNvSpPr txBox="1"/>
          <p:nvPr/>
        </p:nvSpPr>
        <p:spPr>
          <a:xfrm>
            <a:off x="9419081" y="20444"/>
            <a:ext cx="1033019" cy="84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56" dirty="0"/>
              <a:t>.danki studio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BDEBEF-669D-0C54-2A33-1DD56DF8565F}"/>
              </a:ext>
            </a:extLst>
          </p:cNvPr>
          <p:cNvSpPr txBox="1"/>
          <p:nvPr/>
        </p:nvSpPr>
        <p:spPr>
          <a:xfrm>
            <a:off x="7705346" y="7078832"/>
            <a:ext cx="1713735" cy="524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3" b="1" dirty="0"/>
              <a:t>Book Now </a:t>
            </a:r>
          </a:p>
          <a:p>
            <a:r>
              <a:rPr lang="en-US" sz="1403" b="1" dirty="0"/>
              <a:t>a </a:t>
            </a:r>
            <a:r>
              <a:rPr lang="en-US" sz="1403" b="1" dirty="0">
                <a:solidFill>
                  <a:srgbClr val="00B050"/>
                </a:solidFill>
              </a:rPr>
              <a:t>free 30-min call</a:t>
            </a:r>
          </a:p>
        </p:txBody>
      </p:sp>
      <p:sp>
        <p:nvSpPr>
          <p:cNvPr id="15" name="AutoShape 2">
            <a:extLst>
              <a:ext uri="{FF2B5EF4-FFF2-40B4-BE49-F238E27FC236}">
                <a16:creationId xmlns:a16="http://schemas.microsoft.com/office/drawing/2014/main" id="{27AD3E81-0F47-C494-91FC-ACC75F2E67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769813" y="5748139"/>
            <a:ext cx="267295" cy="267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0189" tIns="40094" rIns="80189" bIns="40094" numCol="1" anchor="t" anchorCtr="0" compatLnSpc="1">
            <a:prstTxWarp prst="textNoShape">
              <a:avLst/>
            </a:prstTxWarp>
          </a:bodyPr>
          <a:lstStyle/>
          <a:p>
            <a:endParaRPr lang="it-IT" sz="1579"/>
          </a:p>
        </p:txBody>
      </p:sp>
      <p:pic>
        <p:nvPicPr>
          <p:cNvPr id="16" name="Content Placeholder 5">
            <a:extLst>
              <a:ext uri="{FF2B5EF4-FFF2-40B4-BE49-F238E27FC236}">
                <a16:creationId xmlns:a16="http://schemas.microsoft.com/office/drawing/2014/main" id="{763F2483-ACE5-FD67-6701-9CBE5F75BE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4040" y="6781252"/>
            <a:ext cx="670851" cy="81039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49257CB-0E04-47FC-FDC3-03CE7BCE8D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2120" y="5881786"/>
            <a:ext cx="3664684" cy="179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993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178</Words>
  <Application>Microsoft Office PowerPoint</Application>
  <PresentationFormat>Custom</PresentationFormat>
  <Paragraphs>56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DATA DETOX, the definitive checklist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nambo yang</dc:creator>
  <cp:lastModifiedBy>nambo yang</cp:lastModifiedBy>
  <cp:revision>8</cp:revision>
  <dcterms:created xsi:type="dcterms:W3CDTF">2026-02-07T21:49:56Z</dcterms:created>
  <dcterms:modified xsi:type="dcterms:W3CDTF">2026-02-08T15:01:01Z</dcterms:modified>
</cp:coreProperties>
</file>